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5" r:id="rId1"/>
  </p:sldMasterIdLst>
  <p:notesMasterIdLst>
    <p:notesMasterId r:id="rId15"/>
  </p:notesMasterIdLst>
  <p:sldIdLst>
    <p:sldId id="266" r:id="rId2"/>
    <p:sldId id="256" r:id="rId3"/>
    <p:sldId id="258" r:id="rId4"/>
    <p:sldId id="259" r:id="rId5"/>
    <p:sldId id="270" r:id="rId6"/>
    <p:sldId id="271" r:id="rId7"/>
    <p:sldId id="272" r:id="rId8"/>
    <p:sldId id="260" r:id="rId9"/>
    <p:sldId id="261" r:id="rId10"/>
    <p:sldId id="262" r:id="rId11"/>
    <p:sldId id="264" r:id="rId12"/>
    <p:sldId id="265" r:id="rId13"/>
    <p:sldId id="267" r:id="rId14"/>
  </p:sldIdLst>
  <p:sldSz cx="12192000" cy="6858000"/>
  <p:notesSz cx="6858000" cy="12192000"/>
  <p:embeddedFontLst>
    <p:embeddedFont>
      <p:font typeface="Bahnschrift SemiBold" panose="020B0502040204020203" pitchFamily="34" charset="0"/>
      <p:bold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JasmineUPC" panose="02020603050405020304" pitchFamily="18" charset="-34"/>
      <p:regular r:id="rId21"/>
      <p:bold r:id="rId22"/>
      <p:italic r:id="rId23"/>
      <p:boldItalic r:id="rId24"/>
    </p:embeddedFont>
    <p:embeddedFont>
      <p:font typeface="Nirmala UI" panose="020B0502040204020203" pitchFamily="34" charset="0"/>
      <p:regular r:id="rId25"/>
      <p:bold r:id="rId26"/>
    </p:embeddedFont>
    <p:embeddedFont>
      <p:font typeface="Raleway" pitchFamily="2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Roboto Bold" panose="02000000000000000000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759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380522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8981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6761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14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3418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317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8960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05157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7966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126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82333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515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6271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0830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55773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4092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66054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123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209551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96117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4988569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21935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9368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F02-D35E-46A4-B7A1-1A2B81F8D932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4769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78424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229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071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0741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291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04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</p:sldLayoutIdLst>
  <p:hf sldNum="0" hdr="0" ftr="0" dt="0"/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7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05546D-D6F4-4F59-0C4E-D372395D6C2B}"/>
              </a:ext>
            </a:extLst>
          </p:cNvPr>
          <p:cNvSpPr/>
          <p:nvPr/>
        </p:nvSpPr>
        <p:spPr>
          <a:xfrm>
            <a:off x="824890" y="2407298"/>
            <a:ext cx="10705330" cy="141825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02551D-1B26-02B3-5A46-821914B73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099" y="195942"/>
            <a:ext cx="10394302" cy="1328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49422F-EE8D-1C44-CC4C-15A10E14DA40}"/>
              </a:ext>
            </a:extLst>
          </p:cNvPr>
          <p:cNvSpPr txBox="1"/>
          <p:nvPr/>
        </p:nvSpPr>
        <p:spPr>
          <a:xfrm>
            <a:off x="1487418" y="2407298"/>
            <a:ext cx="93232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AI- Based Voice </a:t>
            </a:r>
            <a:r>
              <a:rPr lang="en-US" sz="4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Controled</a:t>
            </a: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 Virtual Assistant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444FC-0917-E99F-739A-51B74C28771C}"/>
              </a:ext>
            </a:extLst>
          </p:cNvPr>
          <p:cNvSpPr txBox="1"/>
          <p:nvPr/>
        </p:nvSpPr>
        <p:spPr>
          <a:xfrm>
            <a:off x="796376" y="5146233"/>
            <a:ext cx="235243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Guided by :</a:t>
            </a:r>
            <a:br>
              <a:rPr lang="en-US" dirty="0"/>
            </a:br>
            <a:r>
              <a:rPr lang="en-US" sz="2000" b="1" dirty="0"/>
              <a:t>Dr.</a:t>
            </a:r>
            <a:r>
              <a:rPr lang="en-IN" sz="2000" b="1" dirty="0"/>
              <a:t>Samson Ebenezar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9F0120-0183-8BF3-8CA2-5EA794B45CD3}"/>
              </a:ext>
            </a:extLst>
          </p:cNvPr>
          <p:cNvSpPr txBox="1"/>
          <p:nvPr/>
        </p:nvSpPr>
        <p:spPr>
          <a:xfrm>
            <a:off x="8599950" y="5152139"/>
            <a:ext cx="290175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Presented By</a:t>
            </a:r>
            <a:r>
              <a:rPr lang="en-US" sz="2000" b="1" dirty="0"/>
              <a:t>:</a:t>
            </a:r>
            <a:br>
              <a:rPr lang="en-US" sz="2000" b="1" dirty="0"/>
            </a:br>
            <a:r>
              <a:rPr lang="en-US" dirty="0">
                <a:latin typeface="Bahnschrift SemiBold" panose="020B0502040204020203" pitchFamily="34" charset="0"/>
              </a:rPr>
              <a:t>SANDHEESH(1925260003) </a:t>
            </a:r>
            <a:endParaRPr lang="en-IN" dirty="0">
              <a:latin typeface="Bahnschrift SemiBold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8C1AE3-96DB-D4BF-2929-965C742E1F99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696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5AF608-C1FD-2043-D8D4-E2CF38599BC3}"/>
              </a:ext>
            </a:extLst>
          </p:cNvPr>
          <p:cNvSpPr/>
          <p:nvPr/>
        </p:nvSpPr>
        <p:spPr>
          <a:xfrm>
            <a:off x="314960" y="1024801"/>
            <a:ext cx="4256926" cy="485070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83" y="759035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1333" y="180349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AI Voice-Controlled Virtual Assistant</a:t>
            </a:r>
          </a:p>
        </p:txBody>
      </p:sp>
      <p:sp>
        <p:nvSpPr>
          <p:cNvPr id="5" name="Text 2"/>
          <p:cNvSpPr/>
          <p:nvPr/>
        </p:nvSpPr>
        <p:spPr>
          <a:xfrm>
            <a:off x="5301333" y="331916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privacy-first, locally-running Alexa-like assistant powered by Qwen AI and LM Studio — all computation stays on your machine.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C845C7-7474-05E4-B39D-6D1C5D39445D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63E736-5F60-7DBF-A10D-C3B48B41E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E16854-66E8-4BF2-313B-5309CD88D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9BC2A7-95A8-4441-B428-1B3BEC98170C}"/>
              </a:ext>
            </a:extLst>
          </p:cNvPr>
          <p:cNvSpPr txBox="1"/>
          <p:nvPr/>
        </p:nvSpPr>
        <p:spPr>
          <a:xfrm>
            <a:off x="6194178" y="699690"/>
            <a:ext cx="45111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/>
              <a:t>INTRODUCTION</a:t>
            </a:r>
            <a:endParaRPr lang="en-IN" sz="4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70DBFE-BD5A-2F26-20BE-596F4CE69092}"/>
              </a:ext>
            </a:extLst>
          </p:cNvPr>
          <p:cNvSpPr/>
          <p:nvPr/>
        </p:nvSpPr>
        <p:spPr>
          <a:xfrm>
            <a:off x="4036979" y="2538919"/>
            <a:ext cx="7931292" cy="33268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12" y="2340262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18622" y="685510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Solution: Local-First Architecture</a:t>
            </a:r>
            <a:endParaRPr lang="en-US" sz="3200" b="1" dirty="0"/>
          </a:p>
        </p:txBody>
      </p:sp>
      <p:sp>
        <p:nvSpPr>
          <p:cNvPr id="4" name="Text 1"/>
          <p:cNvSpPr/>
          <p:nvPr/>
        </p:nvSpPr>
        <p:spPr>
          <a:xfrm>
            <a:off x="4633201" y="2772370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Autofit/>
          </a:bodyPr>
          <a:lstStyle/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All processing on-device</a:t>
            </a: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 cloud calls, ever</a:t>
            </a:r>
            <a:endParaRPr lang="en-US" dirty="0"/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Qwen AI model</a:t>
            </a: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runs entirely via LM Studio on your hardware</a:t>
            </a:r>
            <a:endParaRPr lang="en-US" dirty="0"/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Full voice privacy</a:t>
            </a: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your audio never leaves the machine</a:t>
            </a:r>
            <a:endParaRPr lang="en-US" dirty="0"/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Fully customizable</a:t>
            </a: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modify prompts, behaviors, and pipelines freely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633201" y="4392910"/>
            <a:ext cx="6903269" cy="1039416"/>
          </a:xfrm>
          <a:prstGeom prst="roundRect">
            <a:avLst>
              <a:gd name="adj" fmla="val 7638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67965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610199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not a wrapper around a cloud API — it is a genuinely air-gapped intelligence stack.</a:t>
            </a:r>
            <a:endParaRPr lang="en-US" sz="14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FFFF8D-00EA-EE28-17E5-865FFAF6CF37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523C45-B5DE-76FE-B858-123BE53E2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093BE6-D1E7-C292-D33E-9ADE575AB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4D13D2-0BD1-40F2-CCEC-F4A818EF04D8}"/>
              </a:ext>
            </a:extLst>
          </p:cNvPr>
          <p:cNvSpPr/>
          <p:nvPr/>
        </p:nvSpPr>
        <p:spPr>
          <a:xfrm>
            <a:off x="1830371" y="6165621"/>
            <a:ext cx="8531258" cy="402154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4309508" y="275994"/>
            <a:ext cx="2807683" cy="482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</a:t>
            </a:r>
            <a:endParaRPr lang="en-US" sz="32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64" y="1691927"/>
            <a:ext cx="9507929" cy="39652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45569" y="3368848"/>
            <a:ext cx="2246753" cy="61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Capture &amp; Transcribe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434379" y="3561256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Orchestrate &amp; Infer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89974" y="3561256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Synthesize Output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083875" y="6332033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component in the pipeline is fully offline. The Python orchestrator acts as the central nervous system, coordinating audio capture, transcription, inference, and playback without any external network calls.</a:t>
            </a:r>
            <a:endParaRPr lang="en-US" sz="7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B6FD65-2899-3139-2B5A-944234491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85BCFB-2557-EE6F-B76B-D4FB02097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  <p:sp>
        <p:nvSpPr>
          <p:cNvPr id="12" name="Left Brace 11">
            <a:extLst>
              <a:ext uri="{FF2B5EF4-FFF2-40B4-BE49-F238E27FC236}">
                <a16:creationId xmlns:a16="http://schemas.microsoft.com/office/drawing/2014/main" id="{B259D386-BEE4-895B-A206-E5AEE5B8F048}"/>
              </a:ext>
            </a:extLst>
          </p:cNvPr>
          <p:cNvSpPr/>
          <p:nvPr/>
        </p:nvSpPr>
        <p:spPr>
          <a:xfrm rot="5400000">
            <a:off x="5109964" y="-2955681"/>
            <a:ext cx="1206769" cy="8502889"/>
          </a:xfrm>
          <a:prstGeom prst="leftBrace">
            <a:avLst>
              <a:gd name="adj1" fmla="val 106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96A86C-C904-AAEE-4DA9-4D681CBBE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0"/>
            <a:ext cx="9083040" cy="68658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4D77022-F608-E5F6-8983-0BD468714F7B}"/>
              </a:ext>
            </a:extLst>
          </p:cNvPr>
          <p:cNvSpPr/>
          <p:nvPr/>
        </p:nvSpPr>
        <p:spPr>
          <a:xfrm>
            <a:off x="0" y="1016000"/>
            <a:ext cx="792480" cy="4775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3729F8-77ED-B8AE-85EB-0C89FBC43B3E}"/>
              </a:ext>
            </a:extLst>
          </p:cNvPr>
          <p:cNvSpPr/>
          <p:nvPr/>
        </p:nvSpPr>
        <p:spPr>
          <a:xfrm>
            <a:off x="11399520" y="0"/>
            <a:ext cx="792480" cy="68658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5641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F1A89-9A0D-A212-6806-54B42A4F4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501" y="0"/>
            <a:ext cx="8380998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C8DBCE-E297-C4B9-4766-AB0FB00CF9BD}"/>
              </a:ext>
            </a:extLst>
          </p:cNvPr>
          <p:cNvSpPr/>
          <p:nvPr/>
        </p:nvSpPr>
        <p:spPr>
          <a:xfrm>
            <a:off x="-375920" y="0"/>
            <a:ext cx="955040" cy="6858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CBBE2E-916B-FD89-2EAE-63F16633137F}"/>
              </a:ext>
            </a:extLst>
          </p:cNvPr>
          <p:cNvSpPr/>
          <p:nvPr/>
        </p:nvSpPr>
        <p:spPr>
          <a:xfrm>
            <a:off x="11084560" y="-375920"/>
            <a:ext cx="1107440" cy="230632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0837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9FD5D8-AE7E-BABF-22EB-A1E3A944F7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090"/>
          <a:stretch>
            <a:fillRect/>
          </a:stretch>
        </p:blipFill>
        <p:spPr>
          <a:xfrm>
            <a:off x="1524000" y="0"/>
            <a:ext cx="9387839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1120C76-15A0-ABC9-03C2-0D2CDB515912}"/>
              </a:ext>
            </a:extLst>
          </p:cNvPr>
          <p:cNvSpPr/>
          <p:nvPr/>
        </p:nvSpPr>
        <p:spPr>
          <a:xfrm>
            <a:off x="193040" y="5476240"/>
            <a:ext cx="1087121" cy="12090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AB6FCE-F271-75D7-09E5-81F589CFC5DC}"/>
              </a:ext>
            </a:extLst>
          </p:cNvPr>
          <p:cNvSpPr/>
          <p:nvPr/>
        </p:nvSpPr>
        <p:spPr>
          <a:xfrm>
            <a:off x="10993120" y="254000"/>
            <a:ext cx="1087121" cy="48971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4562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86F0863-172D-D482-43F3-FF3A178C405C}"/>
              </a:ext>
            </a:extLst>
          </p:cNvPr>
          <p:cNvSpPr/>
          <p:nvPr/>
        </p:nvSpPr>
        <p:spPr>
          <a:xfrm>
            <a:off x="6335307" y="4632960"/>
            <a:ext cx="4450080" cy="1320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14E9CCF-B31D-4CE8-5929-D55FE2B99249}"/>
              </a:ext>
            </a:extLst>
          </p:cNvPr>
          <p:cNvSpPr/>
          <p:nvPr/>
        </p:nvSpPr>
        <p:spPr>
          <a:xfrm>
            <a:off x="629921" y="4632960"/>
            <a:ext cx="5505265" cy="1320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29959B9-D300-B5E3-803B-440E8AB91B56}"/>
              </a:ext>
            </a:extLst>
          </p:cNvPr>
          <p:cNvSpPr/>
          <p:nvPr/>
        </p:nvSpPr>
        <p:spPr>
          <a:xfrm>
            <a:off x="8378371" y="2387600"/>
            <a:ext cx="3496876" cy="15870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438BA14-4B09-BAF6-D7CA-2CE9F368F642}"/>
              </a:ext>
            </a:extLst>
          </p:cNvPr>
          <p:cNvSpPr/>
          <p:nvPr/>
        </p:nvSpPr>
        <p:spPr>
          <a:xfrm>
            <a:off x="4521200" y="2387600"/>
            <a:ext cx="3628214" cy="15870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1BAAD7E-C346-0DCF-B301-617E3C40578F}"/>
              </a:ext>
            </a:extLst>
          </p:cNvPr>
          <p:cNvSpPr/>
          <p:nvPr/>
        </p:nvSpPr>
        <p:spPr>
          <a:xfrm>
            <a:off x="629921" y="2387600"/>
            <a:ext cx="3615858" cy="15870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629921" y="1102618"/>
            <a:ext cx="1090029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Design:</a:t>
            </a:r>
            <a:endParaRPr lang="en-US" sz="36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977" y="2041375"/>
            <a:ext cx="189007" cy="189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0114" y="2487898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Speak</a:t>
            </a:r>
            <a:endParaRPr lang="en-US" sz="1850" b="1" dirty="0"/>
          </a:p>
        </p:txBody>
      </p:sp>
      <p:sp>
        <p:nvSpPr>
          <p:cNvPr id="6" name="Text 3"/>
          <p:cNvSpPr/>
          <p:nvPr/>
        </p:nvSpPr>
        <p:spPr>
          <a:xfrm>
            <a:off x="795366" y="298177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speaks a command or question into the microphone.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7448" y="2074093"/>
            <a:ext cx="189007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27448" y="252962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Transcribe</a:t>
            </a:r>
            <a:endParaRPr lang="en-US" sz="1850" b="1" dirty="0"/>
          </a:p>
        </p:txBody>
      </p:sp>
      <p:sp>
        <p:nvSpPr>
          <p:cNvPr id="10" name="Text 6"/>
          <p:cNvSpPr/>
          <p:nvPr/>
        </p:nvSpPr>
        <p:spPr>
          <a:xfrm>
            <a:off x="4652537" y="2936452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Faster-Whisper processes the audio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buffer and outputs a text transcript — fully offline.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6580" y="2056426"/>
            <a:ext cx="189007" cy="1890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36580" y="2501013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Route</a:t>
            </a:r>
            <a:endParaRPr lang="en-US" sz="1850" b="1" dirty="0"/>
          </a:p>
        </p:txBody>
      </p:sp>
      <p:sp>
        <p:nvSpPr>
          <p:cNvPr id="14" name="Text 9"/>
          <p:cNvSpPr/>
          <p:nvPr/>
        </p:nvSpPr>
        <p:spPr>
          <a:xfrm>
            <a:off x="8531083" y="298177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sends the transcribed text to the LM Studio local REST API endpoint.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114" y="4249609"/>
            <a:ext cx="189007" cy="1890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0114" y="4713585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Infer</a:t>
            </a:r>
            <a:endParaRPr lang="en-US" sz="1850" b="1" dirty="0"/>
          </a:p>
        </p:txBody>
      </p:sp>
      <p:sp>
        <p:nvSpPr>
          <p:cNvPr id="18" name="Text 12"/>
          <p:cNvSpPr/>
          <p:nvPr/>
        </p:nvSpPr>
        <p:spPr>
          <a:xfrm>
            <a:off x="795366" y="5201257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 processes the prompt and generates a contextually aware response.</a:t>
            </a:r>
            <a:endParaRPr lang="en-US" sz="14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5226" y="4249609"/>
            <a:ext cx="189007" cy="1890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64233" y="4713584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Speak Back</a:t>
            </a:r>
            <a:endParaRPr lang="en-US" sz="1850" b="1" dirty="0"/>
          </a:p>
        </p:txBody>
      </p:sp>
      <p:sp>
        <p:nvSpPr>
          <p:cNvPr id="22" name="Text 15"/>
          <p:cNvSpPr/>
          <p:nvPr/>
        </p:nvSpPr>
        <p:spPr>
          <a:xfrm>
            <a:off x="6852180" y="5201257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Text-to-speech (Piper or pyttsx3) synthesizes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audio and the speaker plays the response.</a:t>
            </a:r>
            <a:endParaRPr lang="en-US" sz="14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A4CD5C9-C1FE-825F-8CDF-CBD6277CC3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BCE678F-EB12-7C6D-2E2C-DE48BE8C07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AB26EF-A37E-FCBA-4CB6-4BEDC5F35640}"/>
              </a:ext>
            </a:extLst>
          </p:cNvPr>
          <p:cNvSpPr/>
          <p:nvPr/>
        </p:nvSpPr>
        <p:spPr>
          <a:xfrm>
            <a:off x="8032251" y="1676797"/>
            <a:ext cx="3433310" cy="3335536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2408995" y="640081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Hardware Requirements</a:t>
            </a:r>
            <a:endParaRPr lang="en-US" sz="3700" b="1" dirty="0"/>
          </a:p>
        </p:txBody>
      </p:sp>
      <p:sp>
        <p:nvSpPr>
          <p:cNvPr id="3" name="Shape 1"/>
          <p:cNvSpPr/>
          <p:nvPr/>
        </p:nvSpPr>
        <p:spPr>
          <a:xfrm>
            <a:off x="661475" y="2625229"/>
            <a:ext cx="2175019" cy="2387104"/>
          </a:xfrm>
          <a:prstGeom prst="roundRect">
            <a:avLst>
              <a:gd name="adj" fmla="val 36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820591"/>
            <a:ext cx="17843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Microphone &amp; Speaker</a:t>
            </a:r>
            <a:endParaRPr lang="en-US" sz="1850" b="1" dirty="0"/>
          </a:p>
        </p:txBody>
      </p:sp>
      <p:sp>
        <p:nvSpPr>
          <p:cNvPr id="5" name="Text 3"/>
          <p:cNvSpPr/>
          <p:nvPr/>
        </p:nvSpPr>
        <p:spPr>
          <a:xfrm>
            <a:off x="856832" y="3600152"/>
            <a:ext cx="17843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standard laptop mic and audio output — no specialized hardware needed.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025501" y="2625229"/>
            <a:ext cx="2175118" cy="2387104"/>
          </a:xfrm>
          <a:prstGeom prst="roundRect">
            <a:avLst>
              <a:gd name="adj" fmla="val 36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20858" y="2820591"/>
            <a:ext cx="17844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RAM</a:t>
            </a:r>
            <a:endParaRPr lang="en-US" sz="1850" b="1" dirty="0"/>
          </a:p>
        </p:txBody>
      </p:sp>
      <p:sp>
        <p:nvSpPr>
          <p:cNvPr id="8" name="Text 6"/>
          <p:cNvSpPr/>
          <p:nvPr/>
        </p:nvSpPr>
        <p:spPr>
          <a:xfrm>
            <a:off x="3220858" y="3304877"/>
            <a:ext cx="178440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Minimum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 GB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run the stack.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16 GB recommended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smooth Qwen inference.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389626" y="2625229"/>
            <a:ext cx="2175118" cy="2387104"/>
          </a:xfrm>
          <a:prstGeom prst="roundRect">
            <a:avLst>
              <a:gd name="adj" fmla="val 36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84983" y="2820591"/>
            <a:ext cx="17844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GPU (Optional)</a:t>
            </a:r>
            <a:endParaRPr lang="en-US" sz="1850" b="1" dirty="0"/>
          </a:p>
        </p:txBody>
      </p:sp>
      <p:sp>
        <p:nvSpPr>
          <p:cNvPr id="11" name="Text 9"/>
          <p:cNvSpPr/>
          <p:nvPr/>
        </p:nvSpPr>
        <p:spPr>
          <a:xfrm>
            <a:off x="5584983" y="3304877"/>
            <a:ext cx="178440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CUDA-compatible GPU significantly reduces response latency. CPU-only is fully supported.</a:t>
            </a:r>
            <a:endParaRPr lang="en-US" sz="14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9CD3CB-B1C3-D2E0-F08F-0C5F4FFED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5E4F38-5D99-9688-4912-6FD43EBEF2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92355" y="856737"/>
            <a:ext cx="373780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Software Stacks</a:t>
            </a:r>
            <a:endParaRPr lang="en-US" sz="36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82" y="2386410"/>
            <a:ext cx="558786" cy="55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7002" y="2518172"/>
            <a:ext cx="1744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3.x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177001" y="3137297"/>
            <a:ext cx="174491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orchestration language — coordinates all components via clean, modular scripts.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637" y="2386409"/>
            <a:ext cx="558786" cy="55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10558" y="2518172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LM Studio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10558" y="3137297"/>
            <a:ext cx="174501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Hosts the Qwen model locally and exposes an OpenAI-compatible REST API for inference.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763" y="2386409"/>
            <a:ext cx="558786" cy="55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17495" y="2518171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Qwen Model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917495" y="3137297"/>
            <a:ext cx="174501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natural language understanding and response generation entirely on-device.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386408"/>
            <a:ext cx="558786" cy="55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20545" y="2520969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Faster-Whisper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20545" y="3137297"/>
            <a:ext cx="174501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High-performance offline speech-to-text — CTranslate2-optimized Whisper inference.</a:t>
            </a:r>
            <a:endParaRPr lang="en-US" sz="14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FC196A3-DD41-3297-A5B6-3DDBBC2B17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BCCFA15-7772-F4BA-E596-1412E2AB5C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D04EEC7-227F-920E-27BB-A33DFB3548E0}"/>
              </a:ext>
            </a:extLst>
          </p:cNvPr>
          <p:cNvCxnSpPr/>
          <p:nvPr/>
        </p:nvCxnSpPr>
        <p:spPr>
          <a:xfrm>
            <a:off x="1087120" y="2945208"/>
            <a:ext cx="14224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4B0069-06DA-7477-FABE-B923F87912ED}"/>
              </a:ext>
            </a:extLst>
          </p:cNvPr>
          <p:cNvCxnSpPr/>
          <p:nvPr/>
        </p:nvCxnSpPr>
        <p:spPr>
          <a:xfrm>
            <a:off x="4216400" y="2945208"/>
            <a:ext cx="134112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E67BBD7-7845-2A6A-968B-B1D0A7C31612}"/>
              </a:ext>
            </a:extLst>
          </p:cNvPr>
          <p:cNvCxnSpPr/>
          <p:nvPr/>
        </p:nvCxnSpPr>
        <p:spPr>
          <a:xfrm flipV="1">
            <a:off x="6837680" y="2945208"/>
            <a:ext cx="1584960" cy="2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273DA7-208B-1F4B-7000-84F340334840}"/>
              </a:ext>
            </a:extLst>
          </p:cNvPr>
          <p:cNvCxnSpPr/>
          <p:nvPr/>
        </p:nvCxnSpPr>
        <p:spPr>
          <a:xfrm>
            <a:off x="9720545" y="2945208"/>
            <a:ext cx="1745016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5229" y="826988"/>
            <a:ext cx="520379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Enhancements</a:t>
            </a:r>
            <a:endParaRPr lang="en-US" sz="3200" b="1" dirty="0"/>
          </a:p>
        </p:txBody>
      </p:sp>
      <p:sp>
        <p:nvSpPr>
          <p:cNvPr id="3" name="Text 1"/>
          <p:cNvSpPr/>
          <p:nvPr/>
        </p:nvSpPr>
        <p:spPr>
          <a:xfrm>
            <a:off x="519235" y="2120155"/>
            <a:ext cx="5203794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Wake-word detection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always-listening mode triggered by a custom hotword, no button press needed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Reminders &amp; scheduling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natural language task creation integrated with local calendar systems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Smart-home control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send commands to local home automation hubs (Home Assistant, MQTT)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ESP32 IoT integration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extend voice control to embedded microcontroller devices over serial or Wi-Fi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989548"/>
            <a:ext cx="5203794" cy="52039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619B1D-7D5F-5925-625D-0E8347500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C6981D-A61C-45E7-F4E3-661F76F1F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1617" y="666604"/>
            <a:ext cx="760876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Advantage of Voice controlled Virtual assistant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61475" y="1658541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200977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Privacy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cloud dependency. Voice data never leaves the device — no logs, no telemetry, no exposure.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658541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5658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626" y="200977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Customization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Modify Qwen system prompts, swap models, and extend behaviors to fit any use case.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07842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800" y="435907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Offline-First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6832" y="536793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functional without an internet connection. Reliable in restricted or air-gapped environments.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07842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1626" y="435907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5658" y="495925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Zero Cost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85658" y="5367933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API fees, no subscriptions, no rate limits. Run inference as often as needed at no marginal cost.</a:t>
            </a:r>
            <a:endParaRPr lang="en-US" sz="14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D2160D-4255-CEF6-67B0-4C4070BB7748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2EF7F80-CB6D-2009-87FE-8882374804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B781A0F-22ED-C43C-18FD-90D5489A32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8FE4EB-3844-9EC5-9A3A-C3EF8AC46CA8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F0D723-4EE4-19C0-30CF-1308FD921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53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05D2F3-1748-A330-7C4E-CA718CEA4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2ABF58-939E-0436-7104-77F20A513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638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121</TotalTime>
  <Words>492</Words>
  <Application>Microsoft Office PowerPoint</Application>
  <PresentationFormat>Widescreen</PresentationFormat>
  <Paragraphs>68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Roboto</vt:lpstr>
      <vt:lpstr>JasmineUPC</vt:lpstr>
      <vt:lpstr>Raleway</vt:lpstr>
      <vt:lpstr>Arial</vt:lpstr>
      <vt:lpstr>Roboto Bold</vt:lpstr>
      <vt:lpstr>Nirmala UI</vt:lpstr>
      <vt:lpstr>Cambria</vt:lpstr>
      <vt:lpstr>Bahnschrift SemiBold</vt:lpstr>
      <vt:lpstr>School Days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vishvanth</dc:creator>
  <cp:lastModifiedBy>Sandheesh H</cp:lastModifiedBy>
  <cp:revision>10</cp:revision>
  <dcterms:created xsi:type="dcterms:W3CDTF">2026-09-01T02:42:03Z</dcterms:created>
  <dcterms:modified xsi:type="dcterms:W3CDTF">2026-09-02T14:38:21Z</dcterms:modified>
</cp:coreProperties>
</file>